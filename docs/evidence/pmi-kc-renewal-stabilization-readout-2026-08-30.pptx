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AGENTS.md; docs/facts.md; docs/status.md; live Cloud Run and /api/version readback on 2026-08-30.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order is intentional: each downstream suite consumes a named upstream contract. External inputs block only their exact dependent effect.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customer value is not a new dashboard alone. It is one shared projection that prevents identity, evidence, and action truth from diverging across surfaces.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is intentionally highlighted because packet/provider inputs remain external. The workflow can show the blocker without claiming the packet or write is complete.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customer values are shown. The policy is two miles and 15 requested comparables; provider order is preserved and any later freshness/selection rule remains an explicit client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Current owner/tenant templates remain review-only until approved wording and channel-evidence rules are published. The one-image path is deployed behind a separate closed Drive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Navigation and role eligibility are prerequisites, not effect authority. Runtime suspension, quota, confirmation, and the exact action key remain independent checks.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green deployment proves the closed implementation is present. It does not prove S63's real four-case evidence run or S30's separately authorized live forward/rollback effect.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Human verdict fields stay blank until the owner performs the litmus. S30 provider limits: no proven atomic CAS or provider idempotency; ambiguous attempts never retry and matching state does not prove causality.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record a human PASS from model evidence. Any FAIL becomes a repair item. Missing authority blocks only the exact external effect and never widens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MI_MASTER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A37D"/>
          </a:solidFill>
          <a:ln w="12700">
            <a:solidFill>
              <a:srgbClr val="1FA37D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A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A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A37D"/>
          </a:solidFill>
          <a:ln w="12700">
            <a:solidFill>
              <a:srgbClr val="1FA37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-914400"/>
            <a:ext cx="4023360" cy="4023360"/>
          </a:xfrm>
          <a:prstGeom prst="ellipse">
            <a:avLst/>
          </a:prstGeom>
          <a:solidFill>
            <a:srgbClr val="176B87">
              <a:alpha val="80000"/>
            </a:srgbClr>
          </a:solidFill>
          <a:ln w="12700">
            <a:solidFill>
              <a:srgbClr val="176B8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4297680"/>
            <a:ext cx="2651760" cy="2651760"/>
          </a:xfrm>
          <a:prstGeom prst="ellipse">
            <a:avLst/>
          </a:prstGeom>
          <a:solidFill>
            <a:srgbClr val="1FA37D">
              <a:alpha val="95000"/>
            </a:srgbClr>
          </a:solidFill>
          <a:ln w="12700">
            <a:solidFill>
              <a:srgbClr val="1FA37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66928"/>
            <a:ext cx="2880360" cy="320040"/>
          </a:xfrm>
          <a:prstGeom prst="roundRect">
            <a:avLst>
              <a:gd name="adj" fmla="val 22857"/>
            </a:avLst>
          </a:prstGeom>
          <a:solidFill>
            <a:srgbClr val="17354E"/>
          </a:solidFill>
          <a:ln w="12700">
            <a:solidFill>
              <a:srgbClr val="1735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35508"/>
            <a:ext cx="27340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CE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READOUT  |  30 AUG 2026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58368" y="1280160"/>
            <a:ext cx="8732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Renewal stabilization is deployed with every external effect under human control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85800" y="3090672"/>
            <a:ext cx="79095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7E4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Eleven scoped changes now form one evidence-backed renewal journey. Normal work is available; live system-of-record proofs remain exact, bounded, and separately authorized.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047488"/>
            <a:ext cx="8138160" cy="960120"/>
          </a:xfrm>
          <a:prstGeom prst="roundRect">
            <a:avLst>
              <a:gd name="adj" fmla="val 4762"/>
            </a:avLst>
          </a:prstGeom>
          <a:solidFill>
            <a:srgbClr val="122B42">
              <a:alpha val="97000"/>
            </a:srgbClr>
          </a:solidFill>
          <a:ln w="12700">
            <a:solidFill>
              <a:srgbClr val="3153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527608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CE0C0"/>
                </a:solidFill>
              </a:rPr>
              <a:t>PRODUCTION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11680" y="520293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Live  |  11 Spaces  |  exact release at 100% traffic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96112" y="5596128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D1DB"/>
                </a:solidFill>
              </a:rPr>
              <a:t>No RentVine write, operating-Sheet write, or client message occurred in this release.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628632" y="61447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PMI KC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1FA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 CLOSURE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18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Eleven scoped changes now work as one controlled renewal journey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76072" y="118872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0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suite remains independently testable, but downstream work consumes explicit outputs instead of recreating truth.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847088"/>
            <a:ext cx="1993392" cy="3154680"/>
          </a:xfrm>
          <a:prstGeom prst="roundRect">
            <a:avLst>
              <a:gd name="adj" fmla="val 2752"/>
            </a:avLst>
          </a:prstGeom>
          <a:solidFill>
            <a:srgbClr val="E5F1F5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25296" y="2084832"/>
            <a:ext cx="676656" cy="676656"/>
          </a:xfrm>
          <a:prstGeom prst="ellipse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25296" y="2267712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" y="2926080"/>
            <a:ext cx="17007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Reliable actions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31520" y="3575304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6B87"/>
                </a:solidFill>
              </a:rPr>
              <a:t>S77 + S30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986784"/>
            <a:ext cx="1664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72433"/>
                </a:solidFill>
              </a:rPr>
              <a:t>Exact preview/confirm/reconcile</a:t>
            </a:r>
            <a:endParaRPr lang="en-US" sz="1130" dirty="0"/>
          </a:p>
          <a:p>
            <a:pPr algn="ctr" indent="0" marL="0">
              <a:buNone/>
            </a:pPr>
            <a:r>
              <a:rPr lang="en-US" sz="1130" dirty="0">
                <a:solidFill>
                  <a:srgbClr val="172433"/>
                </a:solidFill>
              </a:rPr>
              <a:t>One-lease reversible proof seam</a:t>
            </a:r>
            <a:endParaRPr lang="en-US" sz="1130" dirty="0"/>
          </a:p>
        </p:txBody>
      </p:sp>
      <p:sp>
        <p:nvSpPr>
          <p:cNvPr id="11" name="Shape 9"/>
          <p:cNvSpPr/>
          <p:nvPr/>
        </p:nvSpPr>
        <p:spPr>
          <a:xfrm>
            <a:off x="2596896" y="3401568"/>
            <a:ext cx="228600" cy="0"/>
          </a:xfrm>
          <a:prstGeom prst="line">
            <a:avLst/>
          </a:prstGeom>
          <a:noFill/>
          <a:ln w="12700">
            <a:solidFill>
              <a:srgbClr val="607185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871216" y="1847088"/>
            <a:ext cx="1993392" cy="3154680"/>
          </a:xfrm>
          <a:prstGeom prst="roundRect">
            <a:avLst>
              <a:gd name="adj" fmla="val 2752"/>
            </a:avLst>
          </a:prstGeom>
          <a:solidFill>
            <a:srgbClr val="DFF3EC"/>
          </a:solidFill>
          <a:ln w="12700">
            <a:solidFill>
              <a:srgbClr val="1FA37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9584" y="2084832"/>
            <a:ext cx="676656" cy="676656"/>
          </a:xfrm>
          <a:prstGeom prst="ellipse">
            <a:avLst/>
          </a:prstGeom>
          <a:solidFill>
            <a:srgbClr val="1FA37D"/>
          </a:solidFill>
          <a:ln w="12700">
            <a:solidFill>
              <a:srgbClr val="1FA37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9584" y="2267712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017520" y="2926080"/>
            <a:ext cx="17007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Defensible evidence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3035808" y="3575304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A37D"/>
                </a:solidFill>
              </a:rPr>
              <a:t>S59 + S63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35808" y="3986784"/>
            <a:ext cx="1664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72433"/>
                </a:solidFill>
              </a:rPr>
              <a:t>Source-to-query provenance</a:t>
            </a:r>
            <a:endParaRPr lang="en-US" sz="1130" dirty="0"/>
          </a:p>
          <a:p>
            <a:pPr algn="ctr" indent="0" marL="0">
              <a:buNone/>
            </a:pPr>
            <a:r>
              <a:rPr lang="en-US" sz="1130" dirty="0">
                <a:solidFill>
                  <a:srgbClr val="172433"/>
                </a:solidFill>
              </a:rPr>
              <a:t>Four-case read-only evidence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4901184" y="3401568"/>
            <a:ext cx="228600" cy="0"/>
          </a:xfrm>
          <a:prstGeom prst="line">
            <a:avLst/>
          </a:prstGeom>
          <a:noFill/>
          <a:ln w="12700">
            <a:solidFill>
              <a:srgbClr val="60718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175504" y="1847088"/>
            <a:ext cx="1993392" cy="3154680"/>
          </a:xfrm>
          <a:prstGeom prst="roundRect">
            <a:avLst>
              <a:gd name="adj" fmla="val 2752"/>
            </a:avLst>
          </a:prstGeom>
          <a:solidFill>
            <a:srgbClr val="FCEBDD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33872" y="2084832"/>
            <a:ext cx="676656" cy="67665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33872" y="2267712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321808" y="2926080"/>
            <a:ext cx="17007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Operational workflow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5340096" y="3575304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261"/>
                </a:solidFill>
              </a:rPr>
              <a:t>S72 + S75 + S78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40096" y="3986784"/>
            <a:ext cx="1664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72433"/>
                </a:solidFill>
              </a:rPr>
              <a:t>Six-step evidence model</a:t>
            </a:r>
            <a:endParaRPr lang="en-US" sz="1130" dirty="0"/>
          </a:p>
          <a:p>
            <a:pPr algn="ctr" indent="0" marL="0">
              <a:buNone/>
            </a:pPr>
            <a:r>
              <a:rPr lang="en-US" sz="1130" dirty="0">
                <a:solidFill>
                  <a:srgbClr val="172433"/>
                </a:solidFill>
              </a:rPr>
              <a:t>Waiting truth + canonical desk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7205472" y="3401568"/>
            <a:ext cx="228600" cy="0"/>
          </a:xfrm>
          <a:prstGeom prst="line">
            <a:avLst/>
          </a:prstGeom>
          <a:noFill/>
          <a:ln w="12700">
            <a:solidFill>
              <a:srgbClr val="607185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479792" y="1847088"/>
            <a:ext cx="1993392" cy="3154680"/>
          </a:xfrm>
          <a:prstGeom prst="roundRect">
            <a:avLst>
              <a:gd name="adj" fmla="val 2752"/>
            </a:avLst>
          </a:prstGeom>
          <a:solidFill>
            <a:srgbClr val="E5F1F5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38160" y="2084832"/>
            <a:ext cx="676656" cy="676656"/>
          </a:xfrm>
          <a:prstGeom prst="ellipse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38160" y="2267712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626096" y="2926080"/>
            <a:ext cx="17007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Governed communication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7644384" y="3575304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6B87"/>
                </a:solidFill>
              </a:rPr>
              <a:t>S74 + S79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644384" y="3986784"/>
            <a:ext cx="1664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72433"/>
                </a:solidFill>
              </a:rPr>
              <a:t>Locked facts + approved prose</a:t>
            </a:r>
            <a:endParaRPr lang="en-US" sz="1130" dirty="0"/>
          </a:p>
          <a:p>
            <a:pPr algn="ctr" indent="0" marL="0">
              <a:buNone/>
            </a:pPr>
            <a:r>
              <a:rPr lang="en-US" sz="1130" dirty="0">
                <a:solidFill>
                  <a:srgbClr val="172433"/>
                </a:solidFill>
              </a:rPr>
              <a:t>One receipt-bound image</a:t>
            </a:r>
            <a:endParaRPr lang="en-US" sz="1130" dirty="0"/>
          </a:p>
        </p:txBody>
      </p:sp>
      <p:sp>
        <p:nvSpPr>
          <p:cNvPr id="32" name="Shape 30"/>
          <p:cNvSpPr/>
          <p:nvPr/>
        </p:nvSpPr>
        <p:spPr>
          <a:xfrm>
            <a:off x="9509760" y="3401568"/>
            <a:ext cx="228600" cy="0"/>
          </a:xfrm>
          <a:prstGeom prst="line">
            <a:avLst/>
          </a:prstGeom>
          <a:noFill/>
          <a:ln w="12700">
            <a:solidFill>
              <a:srgbClr val="607185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784080" y="1847088"/>
            <a:ext cx="1993392" cy="3154680"/>
          </a:xfrm>
          <a:prstGeom prst="roundRect">
            <a:avLst>
              <a:gd name="adj" fmla="val 2752"/>
            </a:avLst>
          </a:prstGeom>
          <a:solidFill>
            <a:srgbClr val="DFF3EC"/>
          </a:solidFill>
          <a:ln w="12700">
            <a:solidFill>
              <a:srgbClr val="1FA37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442448" y="2084832"/>
            <a:ext cx="676656" cy="676656"/>
          </a:xfrm>
          <a:prstGeom prst="ellipse">
            <a:avLst/>
          </a:prstGeom>
          <a:solidFill>
            <a:srgbClr val="1FA37D"/>
          </a:solidFill>
          <a:ln w="12700">
            <a:solidFill>
              <a:srgbClr val="1FA37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442448" y="2267712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930384" y="2926080"/>
            <a:ext cx="17007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Findable governance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9948672" y="3575304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A37D"/>
                </a:solidFill>
              </a:rPr>
              <a:t>S80 + S81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948672" y="3986784"/>
            <a:ext cx="1664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72433"/>
                </a:solidFill>
              </a:rPr>
              <a:t>Role/effect matrix</a:t>
            </a:r>
            <a:endParaRPr lang="en-US" sz="1130" dirty="0"/>
          </a:p>
          <a:p>
            <a:pPr algn="ctr" indent="0" marL="0">
              <a:buNone/>
            </a:pPr>
            <a:r>
              <a:rPr lang="en-US" sz="1130" dirty="0">
                <a:solidFill>
                  <a:srgbClr val="172433"/>
                </a:solidFill>
              </a:rPr>
              <a:t>Task-oriented readiness</a:t>
            </a:r>
            <a:endParaRPr lang="en-US" sz="1130" dirty="0"/>
          </a:p>
        </p:txBody>
      </p:sp>
      <p:sp>
        <p:nvSpPr>
          <p:cNvPr id="39" name="Shape 37"/>
          <p:cNvSpPr/>
          <p:nvPr/>
        </p:nvSpPr>
        <p:spPr>
          <a:xfrm>
            <a:off x="1261872" y="5358384"/>
            <a:ext cx="9674352" cy="640080"/>
          </a:xfrm>
          <a:prstGeom prst="roundRect">
            <a:avLst>
              <a:gd name="adj" fmla="val 7143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517904" y="5541264"/>
            <a:ext cx="9189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Outcome: one path from lease truth to human-reviewed work - without turning workflow progress into provider authority.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66928" y="6473952"/>
            <a:ext cx="10927080" cy="0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6928" y="6519672"/>
            <a:ext cx="10607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0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docs/feature-suites/README.md; S77, S59, S80, S72, S75, S78, S74, S79, S81, S63, and S30 contracts.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A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1FA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OPERATOR OUTCOME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18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Operators now see the right work, the evidence behind it, and the next safe action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76072" y="118872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0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canonical Renewal Desk and lease workspace share identity, progress, follow-up, conflict, retention, and role truth.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1755648"/>
            <a:ext cx="3410712" cy="3547872"/>
          </a:xfrm>
          <a:prstGeom prst="roundRect">
            <a:avLst>
              <a:gd name="adj" fmla="val 1609"/>
            </a:avLst>
          </a:prstGeom>
          <a:solidFill>
            <a:srgbClr val="E5F1F5"/>
          </a:solidFill>
          <a:ln w="12700">
            <a:solidFill>
              <a:srgbClr val="D8E1E8"/>
            </a:solidFill>
            <a:prstDash val="solid"/>
          </a:ln>
          <a:effectLst>
            <a:outerShdw sx="100000" sy="100000" kx="0" ky="0" algn="bl" rotWithShape="0" blurRad="12700" dist="50800" dir="2700000">
              <a:srgbClr val="B6C2CC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755648"/>
            <a:ext cx="73152" cy="354787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3816" y="1938528"/>
            <a:ext cx="3026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  Find the right lease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3816" y="2395728"/>
            <a:ext cx="3026664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Current-month through 120-day cohort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Tracked incomplete work stays visible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Search tenant, owner, property, address, or exact lease id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Deterministic filters, sorts, nulls, and tie-breaking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 guessed person or adjacent-row identity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755648"/>
            <a:ext cx="3410712" cy="3547872"/>
          </a:xfrm>
          <a:prstGeom prst="roundRect">
            <a:avLst>
              <a:gd name="adj" fmla="val 1609"/>
            </a:avLst>
          </a:prstGeom>
          <a:solidFill>
            <a:srgbClr val="DFF3EC"/>
          </a:solidFill>
          <a:ln w="12700">
            <a:solidFill>
              <a:srgbClr val="D8E1E8"/>
            </a:solidFill>
            <a:prstDash val="solid"/>
          </a:ln>
          <a:effectLst>
            <a:outerShdw sx="100000" sy="100000" kx="0" ky="0" algn="bl" rotWithShape="0" blurRad="12700" dist="50800" dir="2700000">
              <a:srgbClr val="B6C2CC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755648"/>
            <a:ext cx="73152" cy="3547872"/>
          </a:xfrm>
          <a:prstGeom prst="rect">
            <a:avLst/>
          </a:prstGeom>
          <a:solidFill>
            <a:srgbClr val="1FA37D"/>
          </a:solidFill>
          <a:ln w="12700">
            <a:solidFill>
              <a:srgbClr val="1FA37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08576" y="1938528"/>
            <a:ext cx="3026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  Know what is true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08576" y="2395728"/>
            <a:ext cx="3026664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Fresh RentVine and Sheet source state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Contractual base rent stays distinct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Conflict dispositions preserve exact source identity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RentCast policy, query, cache, quota, and comp evidence are visible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Missing or stale evidence says Needs Verification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83880" y="1755648"/>
            <a:ext cx="3410712" cy="3547872"/>
          </a:xfrm>
          <a:prstGeom prst="roundRect">
            <a:avLst>
              <a:gd name="adj" fmla="val 1609"/>
            </a:avLst>
          </a:prstGeom>
          <a:solidFill>
            <a:srgbClr val="FCEBDD"/>
          </a:solidFill>
          <a:ln w="12700">
            <a:solidFill>
              <a:srgbClr val="D8E1E8"/>
            </a:solidFill>
            <a:prstDash val="solid"/>
          </a:ln>
          <a:effectLst>
            <a:outerShdw sx="100000" sy="100000" kx="0" ky="0" algn="bl" rotWithShape="0" blurRad="12700" dist="50800" dir="2700000">
              <a:srgbClr val="B6C2CC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83880" y="1755648"/>
            <a:ext cx="73152" cy="35478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03336" y="1938528"/>
            <a:ext cx="3026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  Take the safe next step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403336" y="2395728"/>
            <a:ext cx="3026664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Six-step progress uses exact evidence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Waiting party and last contact come from linked-thread reads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Unset timing creates no due work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Role and provider action are checked separately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Blockers explain the next safe action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847088" y="5586984"/>
            <a:ext cx="8522208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84832" y="5733288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</a:rPr>
              <a:t>One canonical worklist  •  one source-backed workspace  •  no sample-data story in Production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" y="6473952"/>
            <a:ext cx="10927080" cy="0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6519672"/>
            <a:ext cx="10607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0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S78 canonical desk; S72 process/workspace; S75 follow-up projection; S59 RentCast evidence; docs/status.md.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A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1FA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TRUTH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18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six-step workflow stays honest because evidence - not clicks - moves work forward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76072" y="118872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0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step owns operational substeps, roles, completion evidence, blockers, branches, and deterministic reopening.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801368"/>
            <a:ext cx="3383280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002536"/>
            <a:ext cx="384048" cy="384048"/>
          </a:xfrm>
          <a:prstGeom prst="ellipse">
            <a:avLst/>
          </a:prstGeom>
          <a:solidFill>
            <a:srgbClr val="1FA37D"/>
          </a:solidFill>
          <a:ln w="12700">
            <a:solidFill>
              <a:srgbClr val="1FA3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07111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371600" y="200253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Find + verify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59536" y="2532888"/>
            <a:ext cx="2907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433"/>
                </a:solidFill>
              </a:rPr>
              <a:t>Lease, parties, dates, base rent, source currency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50792" y="2578608"/>
            <a:ext cx="329184" cy="0"/>
          </a:xfrm>
          <a:prstGeom prst="line">
            <a:avLst/>
          </a:prstGeom>
          <a:noFill/>
          <a:ln w="12700">
            <a:solidFill>
              <a:srgbClr val="607185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462272" y="1801368"/>
            <a:ext cx="3383280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2002536"/>
            <a:ext cx="384048" cy="384048"/>
          </a:xfrm>
          <a:prstGeom prst="ellipse">
            <a:avLst/>
          </a:prstGeom>
          <a:solidFill>
            <a:srgbClr val="1FA37D"/>
          </a:solidFill>
          <a:ln w="12700">
            <a:solidFill>
              <a:srgbClr val="1FA37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07111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193792" y="200253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comps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81728" y="2532888"/>
            <a:ext cx="2907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433"/>
                </a:solidFill>
              </a:rPr>
              <a:t>RentCast reference evidence; no automatic offer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872984" y="2578608"/>
            <a:ext cx="329184" cy="0"/>
          </a:xfrm>
          <a:prstGeom prst="line">
            <a:avLst/>
          </a:prstGeom>
          <a:noFill/>
          <a:ln w="12700">
            <a:solidFill>
              <a:srgbClr val="607185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284464" y="1801368"/>
            <a:ext cx="3383280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85632" y="2002536"/>
            <a:ext cx="384048" cy="384048"/>
          </a:xfrm>
          <a:prstGeom prst="ellipse">
            <a:avLst/>
          </a:prstGeom>
          <a:solidFill>
            <a:srgbClr val="1FA37D"/>
          </a:solidFill>
          <a:ln w="12700">
            <a:solidFill>
              <a:srgbClr val="1FA37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85632" y="207111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015984" y="200253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Decide terms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503920" y="2532888"/>
            <a:ext cx="2907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433"/>
                </a:solidFill>
              </a:rPr>
              <a:t>Human-reviewed offer and owner direction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3904488"/>
            <a:ext cx="3383280" cy="1572768"/>
          </a:xfrm>
          <a:prstGeom prst="roundRect">
            <a:avLst>
              <a:gd name="adj" fmla="val 2907"/>
            </a:avLst>
          </a:prstGeom>
          <a:solidFill>
            <a:srgbClr val="E5F1F5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" y="4105656"/>
            <a:ext cx="384048" cy="38404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" y="417423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371600" y="410565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packet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59536" y="4636008"/>
            <a:ext cx="2907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433"/>
                </a:solidFill>
              </a:rPr>
              <a:t>Approved S66 catalog and exact provider evidence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050792" y="4681728"/>
            <a:ext cx="329184" cy="0"/>
          </a:xfrm>
          <a:prstGeom prst="line">
            <a:avLst/>
          </a:prstGeom>
          <a:noFill/>
          <a:ln w="12700">
            <a:solidFill>
              <a:srgbClr val="607185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462272" y="3904488"/>
            <a:ext cx="3383280" cy="1572768"/>
          </a:xfrm>
          <a:prstGeom prst="roundRect">
            <a:avLst>
              <a:gd name="adj" fmla="val 2907"/>
            </a:avLst>
          </a:prstGeom>
          <a:solidFill>
            <a:srgbClr val="E5F1F5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4105656"/>
            <a:ext cx="384048" cy="384048"/>
          </a:xfrm>
          <a:prstGeom prst="ellipse">
            <a:avLst/>
          </a:prstGeom>
          <a:solidFill>
            <a:srgbClr val="1FA37D"/>
          </a:solidFill>
          <a:ln w="12700">
            <a:solidFill>
              <a:srgbClr val="1FA37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417423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193792" y="410565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 + draft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4681728" y="4636008"/>
            <a:ext cx="2907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433"/>
                </a:solidFill>
              </a:rPr>
              <a:t>Versioned copy, locked facts, exact unsent draft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872984" y="4681728"/>
            <a:ext cx="329184" cy="0"/>
          </a:xfrm>
          <a:prstGeom prst="line">
            <a:avLst/>
          </a:prstGeom>
          <a:noFill/>
          <a:ln w="12700">
            <a:solidFill>
              <a:srgbClr val="607185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284464" y="3904488"/>
            <a:ext cx="3383280" cy="1572768"/>
          </a:xfrm>
          <a:prstGeom prst="roundRect">
            <a:avLst>
              <a:gd name="adj" fmla="val 2907"/>
            </a:avLst>
          </a:prstGeom>
          <a:solidFill>
            <a:srgbClr val="E5F1F5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85632" y="4105656"/>
            <a:ext cx="384048" cy="384048"/>
          </a:xfrm>
          <a:prstGeom prst="ellipse">
            <a:avLst/>
          </a:prstGeom>
          <a:solidFill>
            <a:srgbClr val="1FA37D"/>
          </a:solidFill>
          <a:ln w="12700">
            <a:solidFill>
              <a:srgbClr val="1FA37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85632" y="417423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015984" y="410565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Track outcome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8503920" y="4636008"/>
            <a:ext cx="2907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433"/>
                </a:solidFill>
              </a:rPr>
              <a:t>Linked-thread truth, decision, completion or exit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932688" y="5486400"/>
            <a:ext cx="10287000" cy="621792"/>
          </a:xfrm>
          <a:prstGeom prst="roundRect">
            <a:avLst/>
          </a:prstGeom>
          <a:solidFill>
            <a:srgbClr val="FCEBDD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88720" y="5669280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</a:rPr>
              <a:t>Missing copy, timing, catalog, OAuth, mapping, or write authority blocks only its exact substep - never a fabricated completion state.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66928" y="6473952"/>
            <a:ext cx="10927080" cy="0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6928" y="6519672"/>
            <a:ext cx="10607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0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S72 renewal-v1 architecture/behavior contract; S59/S74/S75/S66/S30 named evidence dependencies.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A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1FA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INTEGRITY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18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Rent decisions now separate contractual facts, market reference, and human judgment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76072" y="118872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0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explains the evidence path without converting a provider result into an offer.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1847088"/>
            <a:ext cx="3364992" cy="3493008"/>
          </a:xfrm>
          <a:prstGeom prst="roundRect">
            <a:avLst/>
          </a:prstGeom>
          <a:solidFill>
            <a:srgbClr val="E5F1F5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79576" y="2103120"/>
            <a:ext cx="2322576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52728" y="2171700"/>
            <a:ext cx="21762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AUTHORITATIVE INPUT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14400" y="2715768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Contractual source truth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05840" y="3456432"/>
            <a:ext cx="267004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72433"/>
                </a:solidFill>
              </a:rPr>
              <a:t>Fresh agreement or exact resolution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172433"/>
                </a:solidFill>
              </a:rPr>
              <a:t>Contractual base rent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172433"/>
                </a:solidFill>
              </a:rPr>
              <a:t>Recurring charges shown separately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172433"/>
                </a:solidFill>
              </a:rPr>
              <a:t>Conflict, stale, or missing evidence fails closed</a:t>
            </a:r>
            <a:endParaRPr lang="en-US" sz="1260" dirty="0"/>
          </a:p>
        </p:txBody>
      </p:sp>
      <p:sp>
        <p:nvSpPr>
          <p:cNvPr id="10" name="Shape 8"/>
          <p:cNvSpPr/>
          <p:nvPr/>
        </p:nvSpPr>
        <p:spPr>
          <a:xfrm>
            <a:off x="4078224" y="3602736"/>
            <a:ext cx="274320" cy="0"/>
          </a:xfrm>
          <a:prstGeom prst="line">
            <a:avLst/>
          </a:prstGeom>
          <a:noFill/>
          <a:ln w="12700">
            <a:solidFill>
              <a:srgbClr val="607185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407408" y="1847088"/>
            <a:ext cx="3364992" cy="3493008"/>
          </a:xfrm>
          <a:prstGeom prst="roundRect">
            <a:avLst/>
          </a:prstGeom>
          <a:solidFill>
            <a:srgbClr val="DFF3EC"/>
          </a:solidFill>
          <a:ln w="12700">
            <a:solidFill>
              <a:srgbClr val="1FA37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28616" y="2103120"/>
            <a:ext cx="2322576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01768" y="2171700"/>
            <a:ext cx="21762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A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EVIDENCE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63440" y="2715768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RentCast reference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754880" y="3456432"/>
            <a:ext cx="267004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72433"/>
                </a:solidFill>
              </a:rPr>
              <a:t>Server-derived complete address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172433"/>
                </a:solidFill>
              </a:rPr>
              <a:t>Two-mile maximum radius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172433"/>
                </a:solidFill>
              </a:rPr>
              <a:t>15 requested comparables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172433"/>
                </a:solidFill>
              </a:rPr>
              <a:t>Query/cache/quota/provider order visible</a:t>
            </a:r>
            <a:endParaRPr lang="en-US" sz="1260" dirty="0"/>
          </a:p>
        </p:txBody>
      </p:sp>
      <p:sp>
        <p:nvSpPr>
          <p:cNvPr id="16" name="Shape 14"/>
          <p:cNvSpPr/>
          <p:nvPr/>
        </p:nvSpPr>
        <p:spPr>
          <a:xfrm>
            <a:off x="7827264" y="3602736"/>
            <a:ext cx="274320" cy="0"/>
          </a:xfrm>
          <a:prstGeom prst="line">
            <a:avLst/>
          </a:prstGeom>
          <a:noFill/>
          <a:ln w="12700">
            <a:solidFill>
              <a:srgbClr val="607185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156448" y="1847088"/>
            <a:ext cx="3364992" cy="3493008"/>
          </a:xfrm>
          <a:prstGeom prst="roundRect">
            <a:avLst/>
          </a:prstGeom>
          <a:solidFill>
            <a:srgbClr val="FCEBDD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77656" y="2103120"/>
            <a:ext cx="2322576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50808" y="2171700"/>
            <a:ext cx="21762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A2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REVIEWED OUTCOME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412480" y="2715768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Human renewal decision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503920" y="3456432"/>
            <a:ext cx="267004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72433"/>
                </a:solidFill>
              </a:rPr>
              <a:t>Operator sees provenance and omissions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172433"/>
                </a:solidFill>
              </a:rPr>
              <a:t>No hidden freshness/selection filter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172433"/>
                </a:solidFill>
              </a:rPr>
              <a:t>No provider result sets offered rent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172433"/>
                </a:solidFill>
              </a:rPr>
              <a:t>Exact preview is invalidated by changed inputs</a:t>
            </a:r>
            <a:endParaRPr lang="en-US" sz="1260" dirty="0"/>
          </a:p>
        </p:txBody>
      </p:sp>
      <p:sp>
        <p:nvSpPr>
          <p:cNvPr id="22" name="Shape 20"/>
          <p:cNvSpPr/>
          <p:nvPr/>
        </p:nvSpPr>
        <p:spPr>
          <a:xfrm>
            <a:off x="3035808" y="5596128"/>
            <a:ext cx="6126480" cy="475488"/>
          </a:xfrm>
          <a:prstGeom prst="round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73552" y="5733288"/>
            <a:ext cx="56509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Reference evidence informs judgment; it never becomes the offer automatically.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66928" y="6473952"/>
            <a:ext cx="10927080" cy="0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519672"/>
            <a:ext cx="10607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0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S59 query/evidence/cache contract; S72 base-rent evidence; docs/facts.md F-CURRENT-RENT and F-RENEWAL-POLICY.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A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1FA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 CONTROL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18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Communication is reviewable end to end - and still ends with a human send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76072" y="118872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0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Versioned copy, locked facts, exact confirmation, one-attempt recovery, and honest channel states prevent a draft from masquerading as contact.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993392"/>
            <a:ext cx="1609344" cy="2212848"/>
          </a:xfrm>
          <a:prstGeom prst="roundRect">
            <a:avLst>
              <a:gd name="adj" fmla="val 2841"/>
            </a:avLst>
          </a:prstGeom>
          <a:solidFill>
            <a:srgbClr val="FFFFFF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2416" y="2267712"/>
            <a:ext cx="530352" cy="530352"/>
          </a:xfrm>
          <a:prstGeom prst="ellipse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" y="240487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0936" y="2999232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Approved copy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30936" y="3575304"/>
            <a:ext cx="13533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172433"/>
                </a:solidFill>
              </a:rPr>
              <a:t>Owner / tenant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dirty="0">
                <a:solidFill>
                  <a:srgbClr val="172433"/>
                </a:solidFill>
              </a:rPr>
              <a:t>versions</a:t>
            </a:r>
            <a:endParaRPr lang="en-US" sz="1070" dirty="0"/>
          </a:p>
        </p:txBody>
      </p:sp>
      <p:sp>
        <p:nvSpPr>
          <p:cNvPr id="10" name="Shape 8"/>
          <p:cNvSpPr/>
          <p:nvPr/>
        </p:nvSpPr>
        <p:spPr>
          <a:xfrm>
            <a:off x="2139696" y="3099816"/>
            <a:ext cx="246888" cy="0"/>
          </a:xfrm>
          <a:prstGeom prst="line">
            <a:avLst/>
          </a:prstGeom>
          <a:noFill/>
          <a:ln w="12700">
            <a:solidFill>
              <a:srgbClr val="607185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32304" y="1993392"/>
            <a:ext cx="1609344" cy="2212848"/>
          </a:xfrm>
          <a:prstGeom prst="roundRect">
            <a:avLst>
              <a:gd name="adj" fmla="val 2841"/>
            </a:avLst>
          </a:prstGeom>
          <a:solidFill>
            <a:srgbClr val="FFFFFF"/>
          </a:solidFill>
          <a:ln w="12700">
            <a:solidFill>
              <a:srgbClr val="1FA37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2267712"/>
            <a:ext cx="530352" cy="530352"/>
          </a:xfrm>
          <a:prstGeom prst="ellipse">
            <a:avLst/>
          </a:prstGeom>
          <a:solidFill>
            <a:srgbClr val="1FA37D"/>
          </a:solidFill>
          <a:ln w="12700">
            <a:solidFill>
              <a:srgbClr val="1FA37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71800" y="240487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2999232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Locked envelope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560320" y="3575304"/>
            <a:ext cx="13533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172433"/>
                </a:solidFill>
              </a:rPr>
              <a:t>Recipients, dates,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dirty="0">
                <a:solidFill>
                  <a:srgbClr val="172433"/>
                </a:solidFill>
              </a:rPr>
              <a:t>values, terms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4069080" y="3099816"/>
            <a:ext cx="246888" cy="0"/>
          </a:xfrm>
          <a:prstGeom prst="line">
            <a:avLst/>
          </a:prstGeom>
          <a:noFill/>
          <a:ln w="12700">
            <a:solidFill>
              <a:srgbClr val="607185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361688" y="1993392"/>
            <a:ext cx="1609344" cy="2212848"/>
          </a:xfrm>
          <a:prstGeom prst="roundRect">
            <a:avLst>
              <a:gd name="adj" fmla="val 2841"/>
            </a:avLst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01184" y="2267712"/>
            <a:ext cx="530352" cy="5303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01184" y="240487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89704" y="2999232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Optional tailoring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489704" y="3575304"/>
            <a:ext cx="13533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172433"/>
                </a:solidFill>
              </a:rPr>
              <a:t>Allowlisted prose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dirty="0">
                <a:solidFill>
                  <a:srgbClr val="172433"/>
                </a:solidFill>
              </a:rPr>
              <a:t>only</a:t>
            </a:r>
            <a:endParaRPr lang="en-US" sz="1070" dirty="0"/>
          </a:p>
        </p:txBody>
      </p:sp>
      <p:sp>
        <p:nvSpPr>
          <p:cNvPr id="22" name="Shape 20"/>
          <p:cNvSpPr/>
          <p:nvPr/>
        </p:nvSpPr>
        <p:spPr>
          <a:xfrm>
            <a:off x="5998464" y="3099816"/>
            <a:ext cx="246888" cy="0"/>
          </a:xfrm>
          <a:prstGeom prst="line">
            <a:avLst/>
          </a:prstGeom>
          <a:noFill/>
          <a:ln w="12700">
            <a:solidFill>
              <a:srgbClr val="607185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291072" y="1993392"/>
            <a:ext cx="1609344" cy="2212848"/>
          </a:xfrm>
          <a:prstGeom prst="roundRect">
            <a:avLst>
              <a:gd name="adj" fmla="val 2841"/>
            </a:avLst>
          </a:prstGeom>
          <a:solidFill>
            <a:srgbClr val="FFFFFF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30568" y="2267712"/>
            <a:ext cx="530352" cy="530352"/>
          </a:xfrm>
          <a:prstGeom prst="ellipse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30568" y="240487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19088" y="2999232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Exact preview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419088" y="3575304"/>
            <a:ext cx="13533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172433"/>
                </a:solidFill>
              </a:rPr>
              <a:t>Hash-bound facts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dirty="0">
                <a:solidFill>
                  <a:srgbClr val="172433"/>
                </a:solidFill>
              </a:rPr>
              <a:t>+ text + image</a:t>
            </a:r>
            <a:endParaRPr lang="en-US" sz="1070" dirty="0"/>
          </a:p>
        </p:txBody>
      </p:sp>
      <p:sp>
        <p:nvSpPr>
          <p:cNvPr id="28" name="Shape 26"/>
          <p:cNvSpPr/>
          <p:nvPr/>
        </p:nvSpPr>
        <p:spPr>
          <a:xfrm>
            <a:off x="7927848" y="3099816"/>
            <a:ext cx="246888" cy="0"/>
          </a:xfrm>
          <a:prstGeom prst="line">
            <a:avLst/>
          </a:prstGeom>
          <a:noFill/>
          <a:ln w="12700">
            <a:solidFill>
              <a:srgbClr val="607185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220456" y="1993392"/>
            <a:ext cx="1609344" cy="2212848"/>
          </a:xfrm>
          <a:prstGeom prst="roundRect">
            <a:avLst>
              <a:gd name="adj" fmla="val 2841"/>
            </a:avLst>
          </a:prstGeom>
          <a:solidFill>
            <a:srgbClr val="FFFFFF"/>
          </a:solidFill>
          <a:ln w="12700">
            <a:solidFill>
              <a:srgbClr val="1FA37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59952" y="2267712"/>
            <a:ext cx="530352" cy="530352"/>
          </a:xfrm>
          <a:prstGeom prst="ellipse">
            <a:avLst/>
          </a:prstGeom>
          <a:solidFill>
            <a:srgbClr val="1FA37D"/>
          </a:solidFill>
          <a:ln w="12700">
            <a:solidFill>
              <a:srgbClr val="1FA37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59952" y="240487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348472" y="2999232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Unsent Gmail draft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348472" y="3575304"/>
            <a:ext cx="13533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172433"/>
                </a:solidFill>
              </a:rPr>
              <a:t>Receipt + raw MIME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dirty="0">
                <a:solidFill>
                  <a:srgbClr val="172433"/>
                </a:solidFill>
              </a:rPr>
              <a:t>readback</a:t>
            </a:r>
            <a:endParaRPr lang="en-US" sz="1070" dirty="0"/>
          </a:p>
        </p:txBody>
      </p:sp>
      <p:sp>
        <p:nvSpPr>
          <p:cNvPr id="34" name="Shape 32"/>
          <p:cNvSpPr/>
          <p:nvPr/>
        </p:nvSpPr>
        <p:spPr>
          <a:xfrm>
            <a:off x="9857232" y="3099816"/>
            <a:ext cx="246888" cy="0"/>
          </a:xfrm>
          <a:prstGeom prst="line">
            <a:avLst/>
          </a:prstGeom>
          <a:noFill/>
          <a:ln w="12700">
            <a:solidFill>
              <a:srgbClr val="607185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10149840" y="1993392"/>
            <a:ext cx="1609344" cy="2212848"/>
          </a:xfrm>
          <a:prstGeom prst="roundRect">
            <a:avLst>
              <a:gd name="adj" fmla="val 2841"/>
            </a:avLst>
          </a:prstGeom>
          <a:solidFill>
            <a:srgbClr val="F9E5E5"/>
          </a:solidFill>
          <a:ln w="12700">
            <a:solidFill>
              <a:srgbClr val="C9484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689336" y="2267712"/>
            <a:ext cx="530352" cy="530352"/>
          </a:xfrm>
          <a:prstGeom prst="ellipse">
            <a:avLst/>
          </a:prstGeom>
          <a:solidFill>
            <a:srgbClr val="C94848"/>
          </a:solidFill>
          <a:ln w="12700">
            <a:solidFill>
              <a:srgbClr val="C9484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689336" y="240487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277856" y="2999232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Human Gmail send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10277856" y="3575304"/>
            <a:ext cx="13533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172433"/>
                </a:solidFill>
              </a:rPr>
              <a:t>Outside the app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dirty="0">
                <a:solidFill>
                  <a:srgbClr val="172433"/>
                </a:solidFill>
              </a:rPr>
              <a:t>by policy</a:t>
            </a:r>
            <a:endParaRPr lang="en-US" sz="1070" dirty="0"/>
          </a:p>
        </p:txBody>
      </p:sp>
      <p:sp>
        <p:nvSpPr>
          <p:cNvPr id="40" name="Shape 38"/>
          <p:cNvSpPr/>
          <p:nvPr/>
        </p:nvSpPr>
        <p:spPr>
          <a:xfrm>
            <a:off x="932688" y="4736592"/>
            <a:ext cx="1856232" cy="320040"/>
          </a:xfrm>
          <a:prstGeom prst="roundRect">
            <a:avLst>
              <a:gd name="adj" fmla="val 22857"/>
            </a:avLst>
          </a:prstGeom>
          <a:solidFill>
            <a:srgbClr val="E5F1F5"/>
          </a:solidFill>
          <a:ln w="12700">
            <a:solidFill>
              <a:srgbClr val="E5F1F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05840" y="4805172"/>
            <a:ext cx="1709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Previewed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081528" y="4736592"/>
            <a:ext cx="1856232" cy="320040"/>
          </a:xfrm>
          <a:prstGeom prst="roundRect">
            <a:avLst>
              <a:gd name="adj" fmla="val 22857"/>
            </a:avLst>
          </a:prstGeom>
          <a:solidFill>
            <a:srgbClr val="DFF3EC"/>
          </a:solidFill>
          <a:ln w="12700">
            <a:solidFill>
              <a:srgbClr val="DFF3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54680" y="4805172"/>
            <a:ext cx="1709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A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created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230368" y="4736592"/>
            <a:ext cx="1856232" cy="320040"/>
          </a:xfrm>
          <a:prstGeom prst="roundRect">
            <a:avLst>
              <a:gd name="adj" fmla="val 2285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3520" y="4805172"/>
            <a:ext cx="1709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A2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external action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379208" y="4736592"/>
            <a:ext cx="1856232" cy="320040"/>
          </a:xfrm>
          <a:prstGeom prst="roundRect">
            <a:avLst>
              <a:gd name="adj" fmla="val 22857"/>
            </a:avLst>
          </a:prstGeom>
          <a:solidFill>
            <a:srgbClr val="EAF0F4"/>
          </a:solidFill>
          <a:ln w="12700">
            <a:solidFill>
              <a:srgbClr val="EAF0F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52360" y="4805172"/>
            <a:ext cx="1709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Provider-backed contact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9528048" y="4736592"/>
            <a:ext cx="1856232" cy="320040"/>
          </a:xfrm>
          <a:prstGeom prst="roundRect">
            <a:avLst>
              <a:gd name="adj" fmla="val 22857"/>
            </a:avLst>
          </a:prstGeom>
          <a:solidFill>
            <a:srgbClr val="EAF0F4"/>
          </a:solidFill>
          <a:ln w="12700">
            <a:solidFill>
              <a:srgbClr val="EAF0F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601200" y="4805172"/>
            <a:ext cx="1709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Delivered / replied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932688" y="5340096"/>
            <a:ext cx="10332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</a:rPr>
              <a:t>A Gmail draft is never labeled sent, delivered, contacted, or replied. Continuous watch and autonomous follow-up remain retired.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566928" y="6473952"/>
            <a:ext cx="10927080" cy="0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6928" y="6519672"/>
            <a:ext cx="10607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0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S74 copy/channel contract; S77 exact draft contract; S79 receipt-bound MIME; S75 manual linked-thread refresh; AGENTS.md send boundary.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A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1FA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18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Roles and exact action keys are independent, so access never implies authority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76072" y="118872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0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matrix governs pages, API methods, and rendered controls; provider state is checked again at effect time.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1874520"/>
            <a:ext cx="1371600" cy="585216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48256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Role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148840" y="1874520"/>
            <a:ext cx="2331720" cy="585216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21992" y="2048256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App-owned work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17720" y="1874520"/>
            <a:ext cx="1737360" cy="585216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0872" y="2048256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Reconcile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92240" y="1874520"/>
            <a:ext cx="1783080" cy="585216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65392" y="2048256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Admin config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412480" y="1874520"/>
            <a:ext cx="3063240" cy="585216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85632" y="2048256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Provider effect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8368" y="2459736"/>
            <a:ext cx="1371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" y="2670048"/>
            <a:ext cx="12070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433"/>
                </a:solidFill>
              </a:rPr>
              <a:t>Editor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148840" y="2459736"/>
            <a:ext cx="23317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31136" y="2670048"/>
            <a:ext cx="21671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433"/>
                </a:solidFill>
              </a:rPr>
              <a:t>Ordinary renewal work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4617720" y="2459736"/>
            <a:ext cx="1737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0016" y="2670048"/>
            <a:ext cx="15727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433"/>
                </a:solidFill>
              </a:rPr>
              <a:t>No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6492240" y="2459736"/>
            <a:ext cx="1783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74536" y="2670048"/>
            <a:ext cx="16184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433"/>
                </a:solidFill>
              </a:rPr>
              <a:t>No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8412480" y="2459736"/>
            <a:ext cx="3063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94776" y="2670048"/>
            <a:ext cx="2898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6B87"/>
                </a:solidFill>
              </a:rPr>
              <a:t>Exact open key + confirmation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658368" y="3209544"/>
            <a:ext cx="1371600" cy="749808"/>
          </a:xfrm>
          <a:prstGeom prst="rect">
            <a:avLst/>
          </a:prstGeom>
          <a:solidFill>
            <a:srgbClr val="E5F1F5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0664" y="3419856"/>
            <a:ext cx="12070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433"/>
                </a:solidFill>
              </a:rPr>
              <a:t>Approver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2148840" y="3209544"/>
            <a:ext cx="2331720" cy="749808"/>
          </a:xfrm>
          <a:prstGeom prst="rect">
            <a:avLst/>
          </a:prstGeom>
          <a:solidFill>
            <a:srgbClr val="E5F1F5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31136" y="3419856"/>
            <a:ext cx="21671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433"/>
                </a:solidFill>
              </a:rPr>
              <a:t>Ordinary work + reconciliation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4617720" y="3209544"/>
            <a:ext cx="1737360" cy="749808"/>
          </a:xfrm>
          <a:prstGeom prst="rect">
            <a:avLst/>
          </a:prstGeom>
          <a:solidFill>
            <a:srgbClr val="E5F1F5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0016" y="3419856"/>
            <a:ext cx="15727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433"/>
                </a:solidFill>
              </a:rPr>
              <a:t>Yes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6492240" y="3209544"/>
            <a:ext cx="1783080" cy="749808"/>
          </a:xfrm>
          <a:prstGeom prst="rect">
            <a:avLst/>
          </a:prstGeom>
          <a:solidFill>
            <a:srgbClr val="E5F1F5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74536" y="3419856"/>
            <a:ext cx="16184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433"/>
                </a:solidFill>
              </a:rPr>
              <a:t>No</a:t>
            </a:r>
            <a:endParaRPr lang="en-US" sz="1120" dirty="0"/>
          </a:p>
        </p:txBody>
      </p:sp>
      <p:sp>
        <p:nvSpPr>
          <p:cNvPr id="33" name="Shape 31"/>
          <p:cNvSpPr/>
          <p:nvPr/>
        </p:nvSpPr>
        <p:spPr>
          <a:xfrm>
            <a:off x="8412480" y="3209544"/>
            <a:ext cx="3063240" cy="749808"/>
          </a:xfrm>
          <a:prstGeom prst="rect">
            <a:avLst/>
          </a:prstGeom>
          <a:solidFill>
            <a:srgbClr val="E5F1F5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94776" y="3419856"/>
            <a:ext cx="2898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6B87"/>
                </a:solidFill>
              </a:rPr>
              <a:t>Exact open key + confirmation</a:t>
            </a:r>
            <a:endParaRPr lang="en-US" sz="1120" dirty="0"/>
          </a:p>
        </p:txBody>
      </p:sp>
      <p:sp>
        <p:nvSpPr>
          <p:cNvPr id="35" name="Shape 33"/>
          <p:cNvSpPr/>
          <p:nvPr/>
        </p:nvSpPr>
        <p:spPr>
          <a:xfrm>
            <a:off x="658368" y="3959352"/>
            <a:ext cx="1371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0664" y="4169664"/>
            <a:ext cx="12070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433"/>
                </a:solidFill>
              </a:rPr>
              <a:t>Admin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2148840" y="3959352"/>
            <a:ext cx="23317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31136" y="4169664"/>
            <a:ext cx="21671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433"/>
                </a:solidFill>
              </a:rPr>
              <a:t>Ordinary work + governed config</a:t>
            </a:r>
            <a:endParaRPr lang="en-US" sz="1120" dirty="0"/>
          </a:p>
        </p:txBody>
      </p:sp>
      <p:sp>
        <p:nvSpPr>
          <p:cNvPr id="39" name="Shape 37"/>
          <p:cNvSpPr/>
          <p:nvPr/>
        </p:nvSpPr>
        <p:spPr>
          <a:xfrm>
            <a:off x="4617720" y="3959352"/>
            <a:ext cx="1737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0016" y="4169664"/>
            <a:ext cx="15727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433"/>
                </a:solidFill>
              </a:rPr>
              <a:t>Yes</a:t>
            </a:r>
            <a:endParaRPr lang="en-US" sz="1120" dirty="0"/>
          </a:p>
        </p:txBody>
      </p:sp>
      <p:sp>
        <p:nvSpPr>
          <p:cNvPr id="41" name="Shape 39"/>
          <p:cNvSpPr/>
          <p:nvPr/>
        </p:nvSpPr>
        <p:spPr>
          <a:xfrm>
            <a:off x="6492240" y="3959352"/>
            <a:ext cx="1783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74536" y="4169664"/>
            <a:ext cx="16184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433"/>
                </a:solidFill>
              </a:rPr>
              <a:t>Yes</a:t>
            </a:r>
            <a:endParaRPr lang="en-US" sz="1120" dirty="0"/>
          </a:p>
        </p:txBody>
      </p:sp>
      <p:sp>
        <p:nvSpPr>
          <p:cNvPr id="43" name="Shape 41"/>
          <p:cNvSpPr/>
          <p:nvPr/>
        </p:nvSpPr>
        <p:spPr>
          <a:xfrm>
            <a:off x="8412480" y="3959352"/>
            <a:ext cx="3063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94776" y="4169664"/>
            <a:ext cx="2898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6B87"/>
                </a:solidFill>
              </a:rPr>
              <a:t>Still needs exact open key</a:t>
            </a:r>
            <a:endParaRPr lang="en-US" sz="1120" dirty="0"/>
          </a:p>
        </p:txBody>
      </p:sp>
      <p:sp>
        <p:nvSpPr>
          <p:cNvPr id="45" name="Shape 43"/>
          <p:cNvSpPr/>
          <p:nvPr/>
        </p:nvSpPr>
        <p:spPr>
          <a:xfrm>
            <a:off x="658368" y="5010912"/>
            <a:ext cx="3447288" cy="1024128"/>
          </a:xfrm>
          <a:prstGeom prst="roundRect">
            <a:avLst>
              <a:gd name="adj" fmla="val 5357"/>
            </a:avLst>
          </a:prstGeom>
          <a:solidFill>
            <a:srgbClr val="DFF3EC"/>
          </a:solidFill>
          <a:ln w="12700">
            <a:solidFill>
              <a:srgbClr val="D8E1E8"/>
            </a:solidFill>
            <a:prstDash val="solid"/>
          </a:ln>
          <a:effectLst>
            <a:outerShdw sx="100000" sy="100000" kx="0" ky="0" algn="bl" rotWithShape="0" blurRad="12700" dist="50800" dir="2700000">
              <a:srgbClr val="B6C2CC">
                <a:alpha val="14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58368" y="5010912"/>
            <a:ext cx="73152" cy="1024128"/>
          </a:xfrm>
          <a:prstGeom prst="rect">
            <a:avLst/>
          </a:prstGeom>
          <a:solidFill>
            <a:srgbClr val="1FA37D"/>
          </a:solidFill>
          <a:ln w="12700">
            <a:solidFill>
              <a:srgbClr val="1FA37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77824" y="519379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 open / 34 closed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877824" y="565099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Registry keys - never a category grant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4370832" y="5010912"/>
            <a:ext cx="3447288" cy="1024128"/>
          </a:xfrm>
          <a:prstGeom prst="roundRect">
            <a:avLst>
              <a:gd name="adj" fmla="val 5357"/>
            </a:avLst>
          </a:prstGeom>
          <a:solidFill>
            <a:srgbClr val="FCEBDD"/>
          </a:solidFill>
          <a:ln w="12700">
            <a:solidFill>
              <a:srgbClr val="D8E1E8"/>
            </a:solidFill>
            <a:prstDash val="solid"/>
          </a:ln>
          <a:effectLst>
            <a:outerShdw sx="100000" sy="100000" kx="0" ky="0" algn="bl" rotWithShape="0" blurRad="12700" dist="50800" dir="2700000">
              <a:srgbClr val="B6C2CC">
                <a:alpha val="14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370832" y="5010912"/>
            <a:ext cx="73152" cy="10241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90288" y="519379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Writes stay separate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4590288" y="565099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RentVine + operating Sheet remain closed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8083296" y="5010912"/>
            <a:ext cx="3447288" cy="1024128"/>
          </a:xfrm>
          <a:prstGeom prst="roundRect">
            <a:avLst>
              <a:gd name="adj" fmla="val 5357"/>
            </a:avLst>
          </a:prstGeom>
          <a:solidFill>
            <a:srgbClr val="F9E5E5"/>
          </a:solidFill>
          <a:ln w="12700">
            <a:solidFill>
              <a:srgbClr val="D8E1E8"/>
            </a:solidFill>
            <a:prstDash val="solid"/>
          </a:ln>
          <a:effectLst>
            <a:outerShdw sx="100000" sy="100000" kx="0" ky="0" algn="bl" rotWithShape="0" blurRad="12700" dist="50800" dir="2700000">
              <a:srgbClr val="B6C2CC">
                <a:alpha val="14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8083296" y="5010912"/>
            <a:ext cx="73152" cy="1024128"/>
          </a:xfrm>
          <a:prstGeom prst="rect">
            <a:avLst/>
          </a:prstGeom>
          <a:solidFill>
            <a:srgbClr val="C94848"/>
          </a:solidFill>
          <a:ln w="12700">
            <a:solidFill>
              <a:srgbClr val="C9484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302752" y="519379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Sends stay human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8302752" y="565099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client-send keys remain closed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566928" y="6473952"/>
            <a:ext cx="10927080" cy="0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66928" y="6519672"/>
            <a:ext cx="10607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0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S80 role/Space/effect matrix; S81 navigation manifest; docs/facts.md F-ACTION-REGISTRY; AGENTS.md protected and send/write rules.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A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1FA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EVIDENCE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18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release evidence is strong - and explicitly excludes unperformed live proofs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76072" y="118872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0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Code, policy, store, build, CI, candidate, configuration, promotion, stable readback, and effect boundaries were all checked.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21792" y="1856232"/>
            <a:ext cx="1956816" cy="1188720"/>
          </a:xfrm>
          <a:prstGeom prst="roundRect">
            <a:avLst>
              <a:gd name="adj" fmla="val 4615"/>
            </a:avLst>
          </a:prstGeom>
          <a:solidFill>
            <a:srgbClr val="E5F1F5"/>
          </a:solidFill>
          <a:ln w="12700">
            <a:solidFill>
              <a:srgbClr val="E5F1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039112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6B8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5,064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68096" y="2551176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tests passed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1856232"/>
            <a:ext cx="1956816" cy="1188720"/>
          </a:xfrm>
          <a:prstGeom prst="roundRect">
            <a:avLst>
              <a:gd name="adj" fmla="val 4615"/>
            </a:avLst>
          </a:prstGeom>
          <a:solidFill>
            <a:srgbClr val="DFF3EC"/>
          </a:solidFill>
          <a:ln w="12700">
            <a:solidFill>
              <a:srgbClr val="DFF3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63240" y="2039112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A37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119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072384" y="2551176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Firestore tests passed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230368" y="1856232"/>
            <a:ext cx="1956816" cy="1188720"/>
          </a:xfrm>
          <a:prstGeom prst="roundRect">
            <a:avLst>
              <a:gd name="adj" fmla="val 4615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67528" y="2039112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107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376672" y="2551176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routes built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534656" y="1856232"/>
            <a:ext cx="1956816" cy="1188720"/>
          </a:xfrm>
          <a:prstGeom prst="roundRect">
            <a:avLst>
              <a:gd name="adj" fmla="val 4615"/>
            </a:avLst>
          </a:prstGeom>
          <a:solidFill>
            <a:srgbClr val="DFF3EC"/>
          </a:solidFill>
          <a:ln w="12700">
            <a:solidFill>
              <a:srgbClr val="DFF3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71816" y="2039112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A37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680960" y="2551176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vulnerabilities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838944" y="1856232"/>
            <a:ext cx="1956816" cy="1188720"/>
          </a:xfrm>
          <a:prstGeom prst="roundRect">
            <a:avLst>
              <a:gd name="adj" fmla="val 4615"/>
            </a:avLst>
          </a:prstGeom>
          <a:solidFill>
            <a:srgbClr val="F9E5E5"/>
          </a:solidFill>
          <a:ln w="12700">
            <a:solidFill>
              <a:srgbClr val="F9E5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76104" y="2039112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48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985248" y="2551176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S30 client/provider effects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3410712"/>
            <a:ext cx="19933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</a:rPr>
              <a:t>Exact-SHA CI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108960" y="3410712"/>
            <a:ext cx="5349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433"/>
                </a:solidFill>
              </a:rPr>
              <a:t>33330420327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326880" y="3355848"/>
            <a:ext cx="960120" cy="320040"/>
          </a:xfrm>
          <a:prstGeom prst="roundRect">
            <a:avLst>
              <a:gd name="adj" fmla="val 22857"/>
            </a:avLst>
          </a:prstGeom>
          <a:solidFill>
            <a:srgbClr val="DFF3EC"/>
          </a:solidFill>
          <a:ln w="12700">
            <a:solidFill>
              <a:srgbClr val="DFF3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00032" y="3424428"/>
            <a:ext cx="8138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A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05840" y="3886200"/>
            <a:ext cx="19933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</a:rPr>
              <a:t>Zero-traffic candidate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108960" y="3886200"/>
            <a:ext cx="5349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433"/>
                </a:solidFill>
              </a:rPr>
              <a:t>exact commit + revision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326880" y="3831336"/>
            <a:ext cx="960120" cy="320040"/>
          </a:xfrm>
          <a:prstGeom prst="roundRect">
            <a:avLst>
              <a:gd name="adj" fmla="val 22857"/>
            </a:avLst>
          </a:prstGeom>
          <a:solidFill>
            <a:srgbClr val="DFF3EC"/>
          </a:solidFill>
          <a:ln w="12700">
            <a:solidFill>
              <a:srgbClr val="DFF3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00032" y="3899916"/>
            <a:ext cx="8138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A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005840" y="4361688"/>
            <a:ext cx="19933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</a:rPr>
              <a:t>Runtime parity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108960" y="4361688"/>
            <a:ext cx="5349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433"/>
                </a:solidFill>
              </a:rPr>
              <a:t>only image + commit identity differed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326880" y="4306824"/>
            <a:ext cx="960120" cy="320040"/>
          </a:xfrm>
          <a:prstGeom prst="roundRect">
            <a:avLst>
              <a:gd name="adj" fmla="val 22857"/>
            </a:avLst>
          </a:prstGeom>
          <a:solidFill>
            <a:srgbClr val="DFF3EC"/>
          </a:solidFill>
          <a:ln w="12700">
            <a:solidFill>
              <a:srgbClr val="DFF3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00032" y="4375404"/>
            <a:ext cx="8138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A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05840" y="4837176"/>
            <a:ext cx="19933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</a:rPr>
              <a:t>Stable production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108960" y="4837176"/>
            <a:ext cx="5349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433"/>
                </a:solidFill>
              </a:rPr>
              <a:t>exact revision at 100%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326880" y="4782312"/>
            <a:ext cx="960120" cy="320040"/>
          </a:xfrm>
          <a:prstGeom prst="roundRect">
            <a:avLst>
              <a:gd name="adj" fmla="val 22857"/>
            </a:avLst>
          </a:prstGeom>
          <a:solidFill>
            <a:srgbClr val="DFF3EC"/>
          </a:solidFill>
          <a:ln w="12700">
            <a:solidFill>
              <a:srgbClr val="DFF3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400032" y="4850892"/>
            <a:ext cx="8138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A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005840" y="5312664"/>
            <a:ext cx="19933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</a:rPr>
              <a:t>S30 action readback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108960" y="5312664"/>
            <a:ext cx="5349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433"/>
                </a:solidFill>
              </a:rPr>
              <a:t>non-executable after promotion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9326880" y="5257800"/>
            <a:ext cx="960120" cy="320040"/>
          </a:xfrm>
          <a:prstGeom prst="roundRect">
            <a:avLst>
              <a:gd name="adj" fmla="val 22857"/>
            </a:avLst>
          </a:prstGeom>
          <a:solidFill>
            <a:srgbClr val="DFF3EC"/>
          </a:solidFill>
          <a:ln w="12700">
            <a:solidFill>
              <a:srgbClr val="DFF3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400032" y="5326380"/>
            <a:ext cx="8138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A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32688" y="5833872"/>
            <a:ext cx="10314432" cy="365760"/>
          </a:xfrm>
          <a:prstGeom prst="roundRect">
            <a:avLst/>
          </a:prstGeom>
          <a:solidFill>
            <a:srgbClr val="EAF0F4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88720" y="5934456"/>
            <a:ext cx="9802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dirty="0">
                <a:solidFill>
                  <a:srgbClr val="607185"/>
                </a:solidFill>
              </a:rPr>
              <a:t>Transparent caveat: the complete development tree reports six advisories; the production dependency audit is zero.</a:t>
            </a:r>
            <a:endParaRPr lang="en-US" sz="1070" dirty="0"/>
          </a:p>
        </p:txBody>
      </p:sp>
      <p:sp>
        <p:nvSpPr>
          <p:cNvPr id="42" name="Shape 40"/>
          <p:cNvSpPr/>
          <p:nvPr/>
        </p:nvSpPr>
        <p:spPr>
          <a:xfrm>
            <a:off x="566928" y="6473952"/>
            <a:ext cx="10927080" cy="0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" y="6519672"/>
            <a:ext cx="10607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0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canonical verify output; exact-SHA CI run 33330420327; Cloud Run candidate/config/promotion/stable readback; S30 action readback.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A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1FA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ACCEPTANCE DEPENDENCIES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18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bounded proofs need customer inputs; neither blocks normal renewal work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76072" y="118872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0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machinery is deployed. Missing external evidence remains visible instead of being guessed or model-filled.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1801368"/>
            <a:ext cx="5321808" cy="3355848"/>
          </a:xfrm>
          <a:prstGeom prst="roundRect">
            <a:avLst>
              <a:gd name="adj" fmla="val 1635"/>
            </a:avLst>
          </a:prstGeom>
          <a:solidFill>
            <a:srgbClr val="E5F1F5"/>
          </a:solidFill>
          <a:ln w="12700">
            <a:solidFill>
              <a:srgbClr val="D8E1E8"/>
            </a:solidFill>
            <a:prstDash val="solid"/>
          </a:ln>
          <a:effectLst>
            <a:outerShdw sx="100000" sy="100000" kx="0" ky="0" algn="bl" rotWithShape="0" blurRad="12700" dist="50800" dir="2700000">
              <a:srgbClr val="B6C2CC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801368"/>
            <a:ext cx="73152" cy="3355848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98424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S63 - four-case read-only evidence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77824" y="2441448"/>
            <a:ext cx="4937760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Delivered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exact-four capture, immutable baselines, append-only evidence, and separate process / number / safety verdicts.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Needed from customer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runtime + observation packets and a real reviewer.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result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source write, draft, send, or model-filled human verdict.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801368"/>
            <a:ext cx="5321808" cy="3355848"/>
          </a:xfrm>
          <a:prstGeom prst="roundRect">
            <a:avLst>
              <a:gd name="adj" fmla="val 1635"/>
            </a:avLst>
          </a:prstGeom>
          <a:solidFill>
            <a:srgbClr val="FCEBDD"/>
          </a:solidFill>
          <a:ln w="12700">
            <a:solidFill>
              <a:srgbClr val="D8E1E8"/>
            </a:solidFill>
            <a:prstDash val="solid"/>
          </a:ln>
          <a:effectLst>
            <a:outerShdw sx="100000" sy="100000" kx="0" ky="0" algn="bl" rotWithShape="0" blurRad="12700" dist="50800" dir="2700000">
              <a:srgbClr val="B6C2CC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1801368"/>
            <a:ext cx="73152" cy="33558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37376" y="198424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S30 - one-lease endDate proof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37376" y="2441448"/>
            <a:ext cx="4937760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Delivered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managed-actor, fresh-state, one-attempt forward/rollback/readback/closeout runner behind a closed exact key.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Needed from owner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lease/date packet plus separate protected one-key direction.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result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recurring-charge proof, second record, blind retry, or general authority.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78992" y="5468112"/>
            <a:ext cx="10040112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53312" y="5632704"/>
            <a:ext cx="94914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Separate client decisions still needed: approved owner/tenant copy  •  timing/override policy  •  distinct rehearsal Sheet  •  S66/Dotloop catalog + mappings</a:t>
            </a:r>
            <a:endParaRPr lang="en-US" sz="1160" dirty="0"/>
          </a:p>
        </p:txBody>
      </p:sp>
      <p:sp>
        <p:nvSpPr>
          <p:cNvPr id="15" name="Shape 13"/>
          <p:cNvSpPr/>
          <p:nvPr/>
        </p:nvSpPr>
        <p:spPr>
          <a:xfrm>
            <a:off x="566928" y="6473952"/>
            <a:ext cx="10927080" cy="0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6519672"/>
            <a:ext cx="10607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0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S63 and S30 standalone contracts; docs/client-checklist.md; readiness packets in docs/evidence/.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A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1FA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SESSION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18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next meeting can close acceptance in one controlled session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76072" y="118872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0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evidence already deployed, record real human observations, and keep every external effect separately authorized.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58952" y="1792224"/>
            <a:ext cx="384048" cy="384048"/>
          </a:xfrm>
          <a:prstGeom prst="ellipse">
            <a:avLst/>
          </a:prstGeom>
          <a:solidFill>
            <a:srgbClr val="1FA37D"/>
          </a:solidFill>
          <a:ln w="12700">
            <a:solidFill>
              <a:srgbClr val="1FA37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86080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371600" y="1719072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Verify production identity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370832" y="1719072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72433"/>
                </a:solidFill>
              </a:rPr>
              <a:t>Open /api/version and confirm the exact serving commit/revision.</a:t>
            </a:r>
            <a:endParaRPr lang="en-US" sz="1260" dirty="0"/>
          </a:p>
        </p:txBody>
      </p:sp>
      <p:sp>
        <p:nvSpPr>
          <p:cNvPr id="9" name="Shape 7"/>
          <p:cNvSpPr/>
          <p:nvPr/>
        </p:nvSpPr>
        <p:spPr>
          <a:xfrm>
            <a:off x="950976" y="2194560"/>
            <a:ext cx="0" cy="384048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" y="2642616"/>
            <a:ext cx="384048" cy="384048"/>
          </a:xfrm>
          <a:prstGeom prst="ellipse">
            <a:avLst/>
          </a:prstGeom>
          <a:solidFill>
            <a:srgbClr val="1FA37D"/>
          </a:solidFill>
          <a:ln w="12700">
            <a:solidFill>
              <a:srgbClr val="1FA37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271119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371600" y="2569464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Walk the renewal journey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370832" y="2569464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72433"/>
                </a:solidFill>
              </a:rPr>
              <a:t>Desk -&gt; six-step workspace -&gt; evidence -&gt; preview -&gt; unsent draft states.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950976" y="3044952"/>
            <a:ext cx="0" cy="384048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8952" y="3493008"/>
            <a:ext cx="384048" cy="384048"/>
          </a:xfrm>
          <a:prstGeom prst="ellipse">
            <a:avLst/>
          </a:prstGeom>
          <a:solidFill>
            <a:srgbClr val="1FA37D"/>
          </a:solidFill>
          <a:ln w="12700">
            <a:solidFill>
              <a:srgbClr val="1FA37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356158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371600" y="3419856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Run the consolidated litmus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4370832" y="3419856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72433"/>
                </a:solidFill>
              </a:rPr>
              <a:t>Record dated PASS/FAIL observations; repair every genuine failure.</a:t>
            </a:r>
            <a:endParaRPr lang="en-US" sz="1260" dirty="0"/>
          </a:p>
        </p:txBody>
      </p:sp>
      <p:sp>
        <p:nvSpPr>
          <p:cNvPr id="19" name="Shape 17"/>
          <p:cNvSpPr/>
          <p:nvPr/>
        </p:nvSpPr>
        <p:spPr>
          <a:xfrm>
            <a:off x="950976" y="3895344"/>
            <a:ext cx="0" cy="384048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952" y="4343400"/>
            <a:ext cx="384048" cy="38404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441198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371600" y="4270248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Provide proof inputs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4370832" y="4270248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72433"/>
                </a:solidFill>
              </a:rPr>
              <a:t>Supply secure S63 packets and decide whether to review the separate S30 key.</a:t>
            </a:r>
            <a:endParaRPr lang="en-US" sz="1260" dirty="0"/>
          </a:p>
        </p:txBody>
      </p:sp>
      <p:sp>
        <p:nvSpPr>
          <p:cNvPr id="24" name="Shape 22"/>
          <p:cNvSpPr/>
          <p:nvPr/>
        </p:nvSpPr>
        <p:spPr>
          <a:xfrm>
            <a:off x="950976" y="4745736"/>
            <a:ext cx="0" cy="384048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8952" y="5193792"/>
            <a:ext cx="384048" cy="384048"/>
          </a:xfrm>
          <a:prstGeom prst="ellipse">
            <a:avLst/>
          </a:prstGeom>
          <a:solidFill>
            <a:srgbClr val="1FA37D"/>
          </a:solidFill>
          <a:ln w="12700">
            <a:solidFill>
              <a:srgbClr val="1FA37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526237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371600" y="5120640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Record policy decisions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4370832" y="5120640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72433"/>
                </a:solidFill>
              </a:rPr>
              <a:t>Approve copy/channel rules, timing/override policy, and next provider inputs.</a:t>
            </a:r>
            <a:endParaRPr lang="en-US" sz="1260" dirty="0"/>
          </a:p>
        </p:txBody>
      </p:sp>
      <p:sp>
        <p:nvSpPr>
          <p:cNvPr id="29" name="Shape 27"/>
          <p:cNvSpPr/>
          <p:nvPr/>
        </p:nvSpPr>
        <p:spPr>
          <a:xfrm>
            <a:off x="950976" y="5888736"/>
            <a:ext cx="10241280" cy="384048"/>
          </a:xfrm>
          <a:prstGeom prst="round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88720" y="5989320"/>
            <a:ext cx="97657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</a:rPr>
              <a:t>Decision requested: confirm the acceptance session and name the secure owners for S63 evidence and any future S30 proof.</a:t>
            </a:r>
            <a:endParaRPr lang="en-US" sz="1220" dirty="0"/>
          </a:p>
        </p:txBody>
      </p:sp>
      <p:sp>
        <p:nvSpPr>
          <p:cNvPr id="31" name="Shape 29"/>
          <p:cNvSpPr/>
          <p:nvPr/>
        </p:nvSpPr>
        <p:spPr>
          <a:xfrm>
            <a:off x="566928" y="6473952"/>
            <a:ext cx="10927080" cy="0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6519672"/>
            <a:ext cx="10607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0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docs/pmi-kc-meeting-readiness-human-litmus-2026-08-26.md; docs/client-checklist.md; docs/status.md.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A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PMI KC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PMI KC renewal stabilization is deployed with human-controlled effects</dc:title>
  <dc:subject>Lease renewal workflow stabilization - verified customer readout</dc:subject>
  <dc:creator>PMI KC Product Agent</dc:creator>
  <cp:lastModifiedBy>PMI KC Product Agent</cp:lastModifiedBy>
  <cp:revision>1</cp:revision>
  <dcterms:created xsi:type="dcterms:W3CDTF">2026-08-30T19:50:56Z</dcterms:created>
  <dcterms:modified xsi:type="dcterms:W3CDTF">2026-08-30T19:50:56Z</dcterms:modified>
</cp:coreProperties>
</file>